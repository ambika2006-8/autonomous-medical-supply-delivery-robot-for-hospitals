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g2EbXyx9BcZbaEmtxLcGIu1Vte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39B4"/>
    <a:srgbClr val="1B1B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4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" name="Google Shape;20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" name="Google Shape;34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" name="Google Shape;64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9" name="Google Shape;239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5" name="Google Shape;275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-19329"/>
            <a:ext cx="9144000" cy="5143500"/>
          </a:xfrm>
          <a:prstGeom prst="rect">
            <a:avLst/>
          </a:prstGeom>
          <a:solidFill>
            <a:srgbClr val="1557B0"/>
          </a:solidFill>
          <a:ln w="12700" cap="flat" cmpd="sng">
            <a:solidFill>
              <a:srgbClr val="1557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3D7A"/>
          </a:solidFill>
          <a:ln w="12700" cap="flat" cmpd="sng">
            <a:solidFill>
              <a:srgbClr val="0D3D7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274320" y="44805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</a:pPr>
            <a:r>
              <a:rPr lang="en-US" sz="1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KNOWLEDGE</a:t>
            </a: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INSTITUTE OF TECHNOLOGY – SALEM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282684" y="872025"/>
            <a:ext cx="5486400" cy="1545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MEDIROUTE: AUTONOMOUS MEDICAL SUPPLY DELIVERY ROBOT FOR HOSPITALS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Google Shape;16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43600" y="1280160"/>
            <a:ext cx="27432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 txBox="1"/>
          <p:nvPr/>
        </p:nvSpPr>
        <p:spPr>
          <a:xfrm>
            <a:off x="7835962" y="4544487"/>
            <a:ext cx="162807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NO : 9 </a:t>
            </a:r>
            <a:endParaRPr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C70D6B04-9564-2F2C-6E2F-74842E33C02D}"/>
              </a:ext>
            </a:extLst>
          </p:cNvPr>
          <p:cNvSpPr txBox="1"/>
          <p:nvPr/>
        </p:nvSpPr>
        <p:spPr>
          <a:xfrm>
            <a:off x="457200" y="288739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Mechanical Engineering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2DC886B-7C24-6CBB-F293-E2C5E39095C0}"/>
              </a:ext>
            </a:extLst>
          </p:cNvPr>
          <p:cNvSpPr txBox="1"/>
          <p:nvPr/>
        </p:nvSpPr>
        <p:spPr>
          <a:xfrm>
            <a:off x="457200" y="3235569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BHUVANAN M   |   ARAVINTH R   |   AMBIKA B   |   DHARANESHWARAN 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 cap="flat" cmpd="sng">
            <a:solidFill>
              <a:srgbClr val="1557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INSTITUTE OF TECHNOLOGY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63840" y="18288"/>
            <a:ext cx="685800" cy="5486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" name="Google Shape;26;p2"/>
          <p:cNvCxnSpPr/>
          <p:nvPr/>
        </p:nvCxnSpPr>
        <p:spPr>
          <a:xfrm>
            <a:off x="0" y="594360"/>
            <a:ext cx="9144000" cy="0"/>
          </a:xfrm>
          <a:prstGeom prst="straightConnector1">
            <a:avLst/>
          </a:prstGeom>
          <a:noFill/>
          <a:ln w="19050" cap="flat" cmpd="sng">
            <a:solidFill>
              <a:srgbClr val="2E75D4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7" name="Google Shape;27;p2" descr="preencoded.png"/>
          <p:cNvPicPr preferRelativeResize="0"/>
          <p:nvPr/>
        </p:nvPicPr>
        <p:blipFill rotWithShape="1">
          <a:blip r:embed="rId3">
            <a:alphaModFix amt="15000"/>
          </a:blip>
          <a:srcRect/>
          <a:stretch/>
        </p:blipFill>
        <p:spPr>
          <a:xfrm>
            <a:off x="5029200" y="1371600"/>
            <a:ext cx="36576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"/>
          <p:cNvSpPr/>
          <p:nvPr/>
        </p:nvSpPr>
        <p:spPr>
          <a:xfrm>
            <a:off x="0" y="672790"/>
            <a:ext cx="9345465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2400"/>
              <a:buFont typeface="Times New Roman"/>
              <a:buNone/>
            </a:pPr>
            <a:r>
              <a:rPr lang="en-US" sz="2400" b="1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Mediroute : Autonomous Medical Supply Delivery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2400"/>
              <a:buFont typeface="Times New Roman"/>
              <a:buNone/>
            </a:pPr>
            <a:r>
              <a:rPr lang="en-US" sz="2400" b="1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Robot for hospitals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274319" y="1691640"/>
            <a:ext cx="4186168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600"/>
              <a:buFont typeface="Times New Roman"/>
              <a:buNone/>
            </a:pPr>
            <a:r>
              <a:rPr lang="en-US" sz="1600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Objective: </a:t>
            </a:r>
            <a:r>
              <a:rPr lang="en-US" sz="16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transport medical supplies autonomously between hospital stores, nursing stations and wards, using low-cost sensor-guided navigation without manual intervention.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600"/>
              <a:buFont typeface="Times New Roman"/>
              <a:buNone/>
            </a:pPr>
            <a:r>
              <a:rPr lang="en-US" sz="16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600"/>
              <a:buFont typeface="Times New Roman"/>
              <a:buNone/>
            </a:pPr>
            <a:r>
              <a:rPr lang="en-US" sz="1600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Solution: </a:t>
            </a:r>
            <a:r>
              <a:rPr lang="en-US" sz="16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Arduino UNO-based robot combining IR line-following, ultrasonic obstacle detection, and dual-motor differential drive to carry payload safely along a fixed corridor route.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600"/>
              <a:buFont typeface="Times New Roman"/>
              <a:buNone/>
            </a:pPr>
            <a:r>
              <a:rPr lang="en-US" sz="16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" name="Google Shape;31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93161" y="1896433"/>
            <a:ext cx="1876520" cy="2075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61;p3">
            <a:extLst>
              <a:ext uri="{FF2B5EF4-FFF2-40B4-BE49-F238E27FC236}">
                <a16:creationId xmlns:a16="http://schemas.microsoft.com/office/drawing/2014/main" id="{1D54FEFA-4D91-18C8-9DD4-F5E78B9FBEF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11414" y="1896434"/>
            <a:ext cx="1813034" cy="207592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C3D284-FF85-7FB6-2BC4-C169E82A8DE0}"/>
              </a:ext>
            </a:extLst>
          </p:cNvPr>
          <p:cNvSpPr txBox="1"/>
          <p:nvPr/>
        </p:nvSpPr>
        <p:spPr>
          <a:xfrm>
            <a:off x="4762341" y="4150283"/>
            <a:ext cx="23175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ISOMETRIC VIEW </a:t>
            </a:r>
            <a:endParaRPr lang="en-IN" sz="1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6242ED-8CC3-24E7-DE85-99E7DA5E209F}"/>
              </a:ext>
            </a:extLst>
          </p:cNvPr>
          <p:cNvSpPr txBox="1"/>
          <p:nvPr/>
        </p:nvSpPr>
        <p:spPr>
          <a:xfrm>
            <a:off x="7540647" y="4150283"/>
            <a:ext cx="12375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6EDF2B8-5F4E-AC94-0AA9-3C87B33BAA76}"/>
              </a:ext>
            </a:extLst>
          </p:cNvPr>
          <p:cNvSpPr/>
          <p:nvPr/>
        </p:nvSpPr>
        <p:spPr>
          <a:xfrm>
            <a:off x="6534807" y="2869324"/>
            <a:ext cx="307427" cy="94593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 cap="flat" cmpd="sng">
            <a:solidFill>
              <a:srgbClr val="1557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INSTITUTE OF </a:t>
            </a:r>
            <a:r>
              <a:rPr lang="en-US" sz="1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TECHNOLOGY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" name="Google Shape;39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63840" y="18288"/>
            <a:ext cx="685800" cy="5486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" name="Google Shape;40;p3"/>
          <p:cNvCxnSpPr/>
          <p:nvPr/>
        </p:nvCxnSpPr>
        <p:spPr>
          <a:xfrm>
            <a:off x="0" y="594360"/>
            <a:ext cx="9144000" cy="0"/>
          </a:xfrm>
          <a:prstGeom prst="straightConnector1">
            <a:avLst/>
          </a:prstGeom>
          <a:noFill/>
          <a:ln w="19050" cap="flat" cmpd="sng">
            <a:solidFill>
              <a:srgbClr val="2E75D4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1" name="Google Shape;41;p3" descr="preencoded.png"/>
          <p:cNvPicPr preferRelativeResize="0"/>
          <p:nvPr/>
        </p:nvPicPr>
        <p:blipFill rotWithShape="1">
          <a:blip r:embed="rId3">
            <a:alphaModFix amt="15000"/>
          </a:blip>
          <a:srcRect/>
          <a:stretch/>
        </p:blipFill>
        <p:spPr>
          <a:xfrm>
            <a:off x="5029200" y="1371600"/>
            <a:ext cx="36576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3"/>
          <p:cNvSpPr/>
          <p:nvPr/>
        </p:nvSpPr>
        <p:spPr>
          <a:xfrm>
            <a:off x="274320" y="6858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2600"/>
              <a:buFont typeface="Times New Roman"/>
              <a:buNone/>
            </a:pPr>
            <a:r>
              <a:rPr lang="en-US" sz="2600" b="1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 Design Process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3F32B5-5394-1079-885E-BA9850DABE6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1867" b="11111"/>
          <a:stretch>
            <a:fillRect/>
          </a:stretch>
        </p:blipFill>
        <p:spPr>
          <a:xfrm>
            <a:off x="891897" y="1371600"/>
            <a:ext cx="7715250" cy="34472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 cap="flat" cmpd="sng">
            <a:solidFill>
              <a:srgbClr val="1557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</a:pPr>
            <a:r>
              <a:rPr lang="en-US" sz="1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KNOWLEDGE INSTITUTE OF TECHNOLOGY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9" name="Google Shape;69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63840" y="18288"/>
            <a:ext cx="685800" cy="5486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0" name="Google Shape;70;p4"/>
          <p:cNvCxnSpPr/>
          <p:nvPr/>
        </p:nvCxnSpPr>
        <p:spPr>
          <a:xfrm>
            <a:off x="0" y="594360"/>
            <a:ext cx="9144000" cy="0"/>
          </a:xfrm>
          <a:prstGeom prst="straightConnector1">
            <a:avLst/>
          </a:prstGeom>
          <a:noFill/>
          <a:ln w="19050" cap="flat" cmpd="sng">
            <a:solidFill>
              <a:srgbClr val="2E75D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1" name="Google Shape;71;p4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2600"/>
              <a:buFont typeface="Times New Roman"/>
              <a:buNone/>
            </a:pPr>
            <a:r>
              <a:rPr lang="en-US" sz="2600" b="1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 Table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274320" y="1325880"/>
            <a:ext cx="8595360" cy="502920"/>
          </a:xfrm>
          <a:prstGeom prst="rect">
            <a:avLst/>
          </a:prstGeom>
          <a:solidFill>
            <a:srgbClr val="1557B0"/>
          </a:solidFill>
          <a:ln w="12700" cap="flat" cmpd="sng">
            <a:solidFill>
              <a:srgbClr val="1557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274320" y="132588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</a:pPr>
            <a:r>
              <a:rPr lang="en-US" sz="1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2286000" y="132588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</a:pPr>
            <a:r>
              <a:rPr lang="en-US" sz="1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Activity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5577840" y="132588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</a:pPr>
            <a:r>
              <a:rPr lang="en-US" sz="1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Outcome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274320" y="1874520"/>
            <a:ext cx="8595360" cy="594360"/>
          </a:xfrm>
          <a:prstGeom prst="rect">
            <a:avLst/>
          </a:prstGeom>
          <a:solidFill>
            <a:srgbClr val="F5F8FF"/>
          </a:solidFill>
          <a:ln w="12700" cap="flat" cmpd="sng">
            <a:solidFill>
              <a:srgbClr val="BBCD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320040" y="187452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200"/>
              <a:buFont typeface="Times New Roman"/>
              <a:buNone/>
            </a:pPr>
            <a:r>
              <a:rPr lang="en-US" sz="1200" b="1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 Following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2286000" y="1874520"/>
            <a:ext cx="3246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Times New Roman"/>
              <a:buNone/>
            </a:pPr>
            <a:r>
              <a:rPr lang="en-US" sz="11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Dual IR sensors read the reflective tape path; Arduino computes error e = SL - SR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5577840" y="1874520"/>
            <a:ext cx="3246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Times New Roman"/>
              <a:buNone/>
            </a:pPr>
            <a:r>
              <a:rPr lang="en-US" sz="11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Motors steer proportionally (VL/VR = Vbase +/- Kp.e) to stay on path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274320" y="2496312"/>
            <a:ext cx="8595360" cy="594360"/>
          </a:xfrm>
          <a:prstGeom prst="rect">
            <a:avLst/>
          </a:prstGeom>
          <a:solidFill>
            <a:srgbClr val="EEF4FF"/>
          </a:solidFill>
          <a:ln w="12700" cap="flat" cmpd="sng">
            <a:solidFill>
              <a:srgbClr val="BBCD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320040" y="2496312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200"/>
              <a:buFont typeface="Times New Roman"/>
              <a:buNone/>
            </a:pPr>
            <a:r>
              <a:rPr lang="en-US" sz="1200" b="1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Obstacle Detection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2286000" y="2496312"/>
            <a:ext cx="3246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Times New Roman"/>
              <a:buNone/>
            </a:pPr>
            <a:r>
              <a:rPr lang="en-US" sz="11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HC-SR04 ultrasonic sensor continuously measures distance ahead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5577840" y="2496312"/>
            <a:ext cx="3246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Times New Roman"/>
              <a:buNone/>
            </a:pPr>
            <a:r>
              <a:rPr lang="en-US" sz="11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Robot stops automatically when an obstacle is within 15 cm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274320" y="3118104"/>
            <a:ext cx="8595360" cy="594360"/>
          </a:xfrm>
          <a:prstGeom prst="rect">
            <a:avLst/>
          </a:prstGeom>
          <a:solidFill>
            <a:srgbClr val="F5F8FF"/>
          </a:solidFill>
          <a:ln w="12700" cap="flat" cmpd="sng">
            <a:solidFill>
              <a:srgbClr val="BBCD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320040" y="3118104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200"/>
              <a:buFont typeface="Times New Roman"/>
              <a:buNone/>
            </a:pPr>
            <a:r>
              <a:rPr lang="en-US" sz="1200" b="1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Differential Drive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2286000" y="3118104"/>
            <a:ext cx="3246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Times New Roman"/>
              <a:buNone/>
            </a:pPr>
            <a:r>
              <a:rPr lang="en-US" sz="11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L298N driver controls two DC gear motors independently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5577840" y="3118104"/>
            <a:ext cx="3246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Times New Roman"/>
              <a:buNone/>
            </a:pPr>
            <a:r>
              <a:rPr lang="en-US" sz="11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Smooth turning and straight-line corridor travel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274320" y="3739896"/>
            <a:ext cx="8595360" cy="594360"/>
          </a:xfrm>
          <a:prstGeom prst="rect">
            <a:avLst/>
          </a:prstGeom>
          <a:solidFill>
            <a:srgbClr val="EEF4FF"/>
          </a:solidFill>
          <a:ln w="12700" cap="flat" cmpd="sng">
            <a:solidFill>
              <a:srgbClr val="BBCD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320040" y="3739896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200"/>
              <a:buFont typeface="Times New Roman"/>
              <a:buNone/>
            </a:pPr>
            <a:r>
              <a:rPr lang="en-US" sz="1200" b="1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Payload Handling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2286000" y="3739896"/>
            <a:ext cx="3246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Times New Roman"/>
              <a:buNone/>
            </a:pPr>
            <a:r>
              <a:rPr lang="en-US" sz="11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Dedicated compartment carries the medical supply load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5577840" y="3739896"/>
            <a:ext cx="3246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Times New Roman"/>
              <a:buNone/>
            </a:pPr>
            <a:r>
              <a:rPr lang="en-US" sz="11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Stable up to 400 g; wheel slip observed beyond 500 g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274320" y="4361688"/>
            <a:ext cx="8595360" cy="594360"/>
          </a:xfrm>
          <a:prstGeom prst="rect">
            <a:avLst/>
          </a:prstGeom>
          <a:solidFill>
            <a:srgbClr val="F5F8FF"/>
          </a:solidFill>
          <a:ln w="12700" cap="flat" cmpd="sng">
            <a:solidFill>
              <a:srgbClr val="BBCD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320040" y="4361688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200"/>
              <a:buFont typeface="Times New Roman"/>
              <a:buNone/>
            </a:pPr>
            <a:r>
              <a:rPr lang="en-US" sz="1200" b="1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Management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2286000" y="4361688"/>
            <a:ext cx="3246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Times New Roman"/>
              <a:buNone/>
            </a:pPr>
            <a:r>
              <a:rPr lang="en-US" sz="11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7.4V Li-ion pack regulated via 7805 to a stable 5V logic rail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577840" y="4361688"/>
            <a:ext cx="3246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Times New Roman"/>
              <a:buNone/>
            </a:pPr>
            <a:r>
              <a:rPr lang="en-US" sz="11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~40 minutes of continuous operation per charge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 cap="flat" cmpd="sng">
            <a:solidFill>
              <a:srgbClr val="1557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</a:pPr>
            <a:r>
              <a:rPr lang="en-US" sz="1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KNOWLEDGE INSTITUTE OF TECHNOLOGY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4" name="Google Shape;104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63840" y="18288"/>
            <a:ext cx="685800" cy="5486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5" name="Google Shape;105;p5"/>
          <p:cNvCxnSpPr/>
          <p:nvPr/>
        </p:nvCxnSpPr>
        <p:spPr>
          <a:xfrm>
            <a:off x="0" y="594360"/>
            <a:ext cx="9144000" cy="0"/>
          </a:xfrm>
          <a:prstGeom prst="straightConnector1">
            <a:avLst/>
          </a:prstGeom>
          <a:noFill/>
          <a:ln w="19050" cap="flat" cmpd="sng">
            <a:solidFill>
              <a:srgbClr val="2E75D4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06" name="Google Shape;106;p5" descr="preencoded.png"/>
          <p:cNvPicPr preferRelativeResize="0"/>
          <p:nvPr/>
        </p:nvPicPr>
        <p:blipFill rotWithShape="1">
          <a:blip r:embed="rId3">
            <a:alphaModFix amt="15000"/>
          </a:blip>
          <a:srcRect/>
          <a:stretch/>
        </p:blipFill>
        <p:spPr>
          <a:xfrm>
            <a:off x="5029200" y="1371600"/>
            <a:ext cx="36576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5"/>
          <p:cNvSpPr/>
          <p:nvPr/>
        </p:nvSpPr>
        <p:spPr>
          <a:xfrm>
            <a:off x="274320" y="6217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2600"/>
              <a:buFont typeface="Times New Roman"/>
              <a:buNone/>
            </a:pPr>
            <a:r>
              <a:rPr lang="en-US" sz="2600" b="1" dirty="0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 of Activities</a:t>
            </a:r>
            <a:endParaRPr sz="2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5ECC68-4F1B-59D9-51D0-281E29D917F5}"/>
              </a:ext>
            </a:extLst>
          </p:cNvPr>
          <p:cNvSpPr txBox="1"/>
          <p:nvPr/>
        </p:nvSpPr>
        <p:spPr>
          <a:xfrm>
            <a:off x="347038" y="1198721"/>
            <a:ext cx="808416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Survey: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Reviewed existing autonomous hospital delivery robots, navigation methods, and obstacle avoidance techniques.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Selection &amp; Procurement: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Selected Arduino UNO, IR sensors, HC-SR04 ultrasonic sensor, L298N motor driver, DC gear motors, Li-ion battery, LCD, and other components based on cost and compatibility.</a:t>
            </a:r>
          </a:p>
          <a:p>
            <a:pPr lvl="0" algn="just"/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Mechanical Design &amp; Fabrication: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Designed and fabricated the two-tier robot chassis with motor, battery, sensor, and medical storage compartment arrangements.</a:t>
            </a:r>
          </a:p>
          <a:p>
            <a:pPr lvl="0" algn="just"/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Design &amp; Assembly: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Interfaced the sensors, motor driver, motors, LCD, push button, and Arduino UNO and completed the prototype wiring.</a:t>
            </a:r>
          </a:p>
          <a:p>
            <a:pPr lvl="0" algn="just"/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Firmware &amp; Website Development: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Developed the Arduino control program for zone selection, line following, obstacle avoidance, motor control, and return-to-home operation, along with the </a:t>
            </a:r>
            <a:r>
              <a:rPr lang="en-IN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MediRoute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hospital dispatch website.</a:t>
            </a:r>
          </a:p>
          <a:p>
            <a:pPr lvl="0" algn="just"/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Integration &amp; Testing: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Integrated the complete system and validated obstacle detection, navigation, turning, payload carrying, battery performance, and delivery operation.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 cap="flat" cmpd="sng">
            <a:solidFill>
              <a:srgbClr val="1557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INSTITUTE OF TECHNOLOGY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63840" y="18288"/>
            <a:ext cx="685800" cy="5486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" name="Google Shape;118;p6"/>
          <p:cNvCxnSpPr/>
          <p:nvPr/>
        </p:nvCxnSpPr>
        <p:spPr>
          <a:xfrm>
            <a:off x="0" y="594360"/>
            <a:ext cx="9144000" cy="0"/>
          </a:xfrm>
          <a:prstGeom prst="straightConnector1">
            <a:avLst/>
          </a:prstGeom>
          <a:noFill/>
          <a:ln w="19050" cap="flat" cmpd="sng">
            <a:solidFill>
              <a:srgbClr val="2E75D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9" name="Google Shape;119;p6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2600"/>
              <a:buFont typeface="Times New Roman"/>
              <a:buNone/>
            </a:pPr>
            <a:r>
              <a:rPr lang="en-US" sz="2600" b="1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Activity Duration Table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57200" y="1325880"/>
            <a:ext cx="8229600" cy="548640"/>
          </a:xfrm>
          <a:prstGeom prst="rect">
            <a:avLst/>
          </a:prstGeom>
          <a:solidFill>
            <a:srgbClr val="1557B0"/>
          </a:solidFill>
          <a:ln w="12700" cap="flat" cmpd="sng">
            <a:solidFill>
              <a:srgbClr val="1557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457200" y="132588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</a:pPr>
            <a:r>
              <a:rPr lang="en-US" sz="1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Activity ID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1828800" y="132588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</a:pPr>
            <a:r>
              <a:rPr lang="en-US" sz="1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 Description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6858000" y="132588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</a:pPr>
            <a:r>
              <a:rPr lang="en-US" sz="1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Duration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457200" y="1920240"/>
            <a:ext cx="8229600" cy="594360"/>
          </a:xfrm>
          <a:prstGeom prst="rect">
            <a:avLst/>
          </a:prstGeom>
          <a:solidFill>
            <a:srgbClr val="F5F8FF"/>
          </a:solidFill>
          <a:ln w="12700" cap="flat" cmpd="sng">
            <a:solidFill>
              <a:srgbClr val="BBCD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457200" y="1920240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400"/>
              <a:buFont typeface="Times New Roman"/>
              <a:buNone/>
            </a:pPr>
            <a:r>
              <a:rPr lang="en-US" sz="1400" b="1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A1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1828800" y="1920240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Times New Roman"/>
              <a:buNone/>
            </a:pPr>
            <a:r>
              <a:rPr lang="en-US" sz="1300" dirty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 Study and Component Selection</a:t>
            </a:r>
            <a:endParaRPr sz="1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6858000" y="192024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Times New Roman"/>
              <a:buNone/>
            </a:pPr>
            <a:r>
              <a:rPr lang="en-US" sz="13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Week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457200" y="2542032"/>
            <a:ext cx="8229600" cy="594360"/>
          </a:xfrm>
          <a:prstGeom prst="rect">
            <a:avLst/>
          </a:prstGeom>
          <a:solidFill>
            <a:srgbClr val="EEF4FF"/>
          </a:solidFill>
          <a:ln w="12700" cap="flat" cmpd="sng">
            <a:solidFill>
              <a:srgbClr val="BBCD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457200" y="2542032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400"/>
              <a:buFont typeface="Times New Roman"/>
              <a:buNone/>
            </a:pPr>
            <a:r>
              <a:rPr lang="en-US" sz="1400" b="1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A2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1828800" y="2542032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Times New Roman"/>
              <a:buNone/>
            </a:pPr>
            <a:r>
              <a:rPr lang="en-US" sz="13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Chassis Design and Fabrication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6858000" y="2542032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Times New Roman"/>
              <a:buNone/>
            </a:pPr>
            <a:r>
              <a:rPr lang="en-US" sz="13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Weeks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457200" y="3163824"/>
            <a:ext cx="8229600" cy="594360"/>
          </a:xfrm>
          <a:prstGeom prst="rect">
            <a:avLst/>
          </a:prstGeom>
          <a:solidFill>
            <a:srgbClr val="F5F8FF"/>
          </a:solidFill>
          <a:ln w="12700" cap="flat" cmpd="sng">
            <a:solidFill>
              <a:srgbClr val="BBCD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457200" y="3163824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400"/>
              <a:buFont typeface="Times New Roman"/>
              <a:buNone/>
            </a:pPr>
            <a:r>
              <a:rPr lang="en-US" sz="1400" b="1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A3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1828800" y="3163824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Times New Roman"/>
              <a:buNone/>
            </a:pPr>
            <a:r>
              <a:rPr lang="en-US" sz="13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 Wiring and Motor Driver Integration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6858000" y="3163824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Times New Roman"/>
              <a:buNone/>
            </a:pPr>
            <a:r>
              <a:rPr lang="en-US" sz="13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Week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457200" y="3785616"/>
            <a:ext cx="8229600" cy="594360"/>
          </a:xfrm>
          <a:prstGeom prst="rect">
            <a:avLst/>
          </a:prstGeom>
          <a:solidFill>
            <a:srgbClr val="EEF4FF"/>
          </a:solidFill>
          <a:ln w="12700" cap="flat" cmpd="sng">
            <a:solidFill>
              <a:srgbClr val="BBCD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457200" y="3785616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400"/>
              <a:buFont typeface="Times New Roman"/>
              <a:buNone/>
            </a:pPr>
            <a:r>
              <a:rPr lang="en-US" sz="1400" b="1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A4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1828800" y="3785616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Times New Roman"/>
              <a:buNone/>
            </a:pPr>
            <a:r>
              <a:rPr lang="en-US" sz="13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Logic Programming (Line-Following + Obstacle Avoidance)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6858000" y="3785616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Times New Roman"/>
              <a:buNone/>
            </a:pPr>
            <a:r>
              <a:rPr lang="en-US" sz="13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Week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457200" y="4407408"/>
            <a:ext cx="8229600" cy="594360"/>
          </a:xfrm>
          <a:prstGeom prst="rect">
            <a:avLst/>
          </a:prstGeom>
          <a:solidFill>
            <a:srgbClr val="F5F8FF"/>
          </a:solidFill>
          <a:ln w="12700" cap="flat" cmpd="sng">
            <a:solidFill>
              <a:srgbClr val="BBCD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457200" y="4407408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400"/>
              <a:buFont typeface="Times New Roman"/>
              <a:buNone/>
            </a:pPr>
            <a:r>
              <a:rPr lang="en-US" sz="1400" b="1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A5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1828800" y="4407408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Times New Roman"/>
              <a:buNone/>
            </a:pPr>
            <a:r>
              <a:rPr lang="en-US" sz="13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Corridor Testing, Data Recording and Analysis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6858000" y="4407408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Times New Roman"/>
              <a:buNone/>
            </a:pPr>
            <a:r>
              <a:rPr lang="en-US" sz="13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Weeks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 cap="flat" cmpd="sng">
            <a:solidFill>
              <a:srgbClr val="1557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</a:pPr>
            <a:r>
              <a:rPr lang="en-US" sz="1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KNOWLEDGE INSTITUTE OF TECHNOLOGY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2" name="Google Shape;152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63840" y="18288"/>
            <a:ext cx="685800" cy="5486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3" name="Google Shape;153;p7"/>
          <p:cNvCxnSpPr/>
          <p:nvPr/>
        </p:nvCxnSpPr>
        <p:spPr>
          <a:xfrm>
            <a:off x="0" y="594360"/>
            <a:ext cx="9144000" cy="0"/>
          </a:xfrm>
          <a:prstGeom prst="straightConnector1">
            <a:avLst/>
          </a:prstGeom>
          <a:noFill/>
          <a:ln w="19050" cap="flat" cmpd="sng">
            <a:solidFill>
              <a:srgbClr val="2E75D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4" name="Google Shape;154;p7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2600"/>
              <a:buFont typeface="Times New Roman"/>
              <a:buNone/>
            </a:pPr>
            <a:r>
              <a:rPr lang="en-US" sz="2600" b="1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Activity Precedence Table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274320" y="1325880"/>
            <a:ext cx="8595360" cy="594360"/>
          </a:xfrm>
          <a:prstGeom prst="rect">
            <a:avLst/>
          </a:prstGeom>
          <a:solidFill>
            <a:srgbClr val="1557B0"/>
          </a:solidFill>
          <a:ln w="12700" cap="flat" cmpd="sng">
            <a:solidFill>
              <a:srgbClr val="1557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274320" y="1325880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</a:pPr>
            <a:r>
              <a:rPr lang="en-US" sz="1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Activity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2560320" y="1325880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</a:pPr>
            <a:r>
              <a:rPr lang="en-US" sz="1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Preceded By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4846320" y="1325880"/>
            <a:ext cx="4023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</a:pPr>
            <a:r>
              <a:rPr lang="en-US" sz="1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Logic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274320" y="1965960"/>
            <a:ext cx="8595360" cy="685800"/>
          </a:xfrm>
          <a:prstGeom prst="rect">
            <a:avLst/>
          </a:prstGeom>
          <a:solidFill>
            <a:srgbClr val="F5F8FF"/>
          </a:solidFill>
          <a:ln w="12700" cap="flat" cmpd="sng">
            <a:solidFill>
              <a:srgbClr val="BBCD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320040" y="1965960"/>
            <a:ext cx="21945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300"/>
              <a:buFont typeface="Times New Roman"/>
              <a:buNone/>
            </a:pPr>
            <a:r>
              <a:rPr lang="en-US" sz="1300" b="1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Chassis Fabrication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2560320" y="1965960"/>
            <a:ext cx="21945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Times New Roman"/>
              <a:buNone/>
            </a:pPr>
            <a:r>
              <a:rPr lang="en-US" sz="12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</a:t>
            </a:r>
            <a:r>
              <a:rPr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Study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4846320" y="1965960"/>
            <a:ext cx="39319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Times New Roman"/>
              <a:buNone/>
            </a:pPr>
            <a:r>
              <a:rPr lang="en-US" sz="12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Construction starts after component selection and design finalization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274320" y="2679192"/>
            <a:ext cx="8595360" cy="685800"/>
          </a:xfrm>
          <a:prstGeom prst="rect">
            <a:avLst/>
          </a:prstGeom>
          <a:solidFill>
            <a:srgbClr val="EEF4FF"/>
          </a:solidFill>
          <a:ln w="12700" cap="flat" cmpd="sng">
            <a:solidFill>
              <a:srgbClr val="BBCD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320040" y="2679192"/>
            <a:ext cx="21945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300"/>
              <a:buFont typeface="Times New Roman"/>
              <a:buNone/>
            </a:pPr>
            <a:r>
              <a:rPr lang="en-US" sz="1300" b="1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 Integration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2560320" y="2679192"/>
            <a:ext cx="21945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Times New Roman"/>
              <a:buNone/>
            </a:pPr>
            <a:r>
              <a:rPr lang="en-US" sz="12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Chassis Fabrication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4846320" y="2679192"/>
            <a:ext cx="39319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Times New Roman"/>
              <a:buNone/>
            </a:pPr>
            <a:r>
              <a:rPr lang="en-US" sz="12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Sensors mounted only after chassis structure is complete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274320" y="3392424"/>
            <a:ext cx="8595360" cy="685800"/>
          </a:xfrm>
          <a:prstGeom prst="rect">
            <a:avLst/>
          </a:prstGeom>
          <a:solidFill>
            <a:srgbClr val="F5F8FF"/>
          </a:solidFill>
          <a:ln w="12700" cap="flat" cmpd="sng">
            <a:solidFill>
              <a:srgbClr val="BBCD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320040" y="3392424"/>
            <a:ext cx="21945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300"/>
              <a:buFont typeface="Times New Roman"/>
              <a:buNone/>
            </a:pPr>
            <a:r>
              <a:rPr lang="en-US" sz="1300" b="1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Corridor Testing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2560320" y="3392424"/>
            <a:ext cx="21945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Times New Roman"/>
              <a:buNone/>
            </a:pPr>
            <a:r>
              <a:rPr lang="en-US" sz="12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 Integration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4846320" y="3392424"/>
            <a:ext cx="39319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Times New Roman"/>
              <a:buNone/>
            </a:pPr>
            <a:r>
              <a:rPr lang="en-US" sz="12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starts once control logic and sensors are fully operational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274320" y="4105656"/>
            <a:ext cx="8595360" cy="685800"/>
          </a:xfrm>
          <a:prstGeom prst="rect">
            <a:avLst/>
          </a:prstGeom>
          <a:solidFill>
            <a:srgbClr val="EEF4FF"/>
          </a:solidFill>
          <a:ln w="12700" cap="flat" cmpd="sng">
            <a:solidFill>
              <a:srgbClr val="BBCD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320040" y="4105656"/>
            <a:ext cx="21945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300"/>
              <a:buFont typeface="Times New Roman"/>
              <a:buNone/>
            </a:pPr>
            <a:r>
              <a:rPr lang="en-US" sz="1300" b="1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Analysis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2560320" y="4105656"/>
            <a:ext cx="21945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Times New Roman"/>
              <a:buNone/>
            </a:pPr>
            <a:r>
              <a:rPr lang="en-US" sz="12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Corridor Testing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4846320" y="4105656"/>
            <a:ext cx="39319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Times New Roman"/>
              <a:buNone/>
            </a:pPr>
            <a:r>
              <a:rPr lang="en-US" sz="12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evaluation done after sufficient trial data is collected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 cap="flat" cmpd="sng">
            <a:solidFill>
              <a:srgbClr val="1557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</a:pPr>
            <a:r>
              <a:rPr lang="en-US" sz="1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KNOWLEDGE INSTITUTE OF TECHNOLOGY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3" name="Google Shape;183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63840" y="18288"/>
            <a:ext cx="685800" cy="5486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4" name="Google Shape;184;p8"/>
          <p:cNvCxnSpPr/>
          <p:nvPr/>
        </p:nvCxnSpPr>
        <p:spPr>
          <a:xfrm>
            <a:off x="0" y="594360"/>
            <a:ext cx="9144000" cy="0"/>
          </a:xfrm>
          <a:prstGeom prst="straightConnector1">
            <a:avLst/>
          </a:prstGeom>
          <a:noFill/>
          <a:ln w="19050" cap="flat" cmpd="sng">
            <a:solidFill>
              <a:srgbClr val="2E75D4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85" name="Google Shape;185;p8" descr="preencoded.png"/>
          <p:cNvPicPr preferRelativeResize="0"/>
          <p:nvPr/>
        </p:nvPicPr>
        <p:blipFill rotWithShape="1">
          <a:blip r:embed="rId3">
            <a:alphaModFix amt="15000"/>
          </a:blip>
          <a:srcRect/>
          <a:stretch/>
        </p:blipFill>
        <p:spPr>
          <a:xfrm>
            <a:off x="5029200" y="1371600"/>
            <a:ext cx="36576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8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2600"/>
              <a:buFont typeface="Times New Roman"/>
              <a:buNone/>
            </a:pPr>
            <a:r>
              <a:rPr lang="en-US" sz="2600" b="1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Glossary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274320" y="137160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300"/>
              <a:buFont typeface="Times New Roman"/>
              <a:buNone/>
            </a:pPr>
            <a:r>
              <a:rPr lang="en-US" sz="1300" b="1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 Following: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2880360" y="1371600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Times New Roman"/>
              <a:buNone/>
            </a:pPr>
            <a:r>
              <a:rPr lang="en-US" sz="13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Robot navigation technique that tracks a marked path using reflected IR light intensity.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274320" y="1984248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300"/>
              <a:buFont typeface="Times New Roman"/>
              <a:buNone/>
            </a:pPr>
            <a:r>
              <a:rPr lang="en-US" sz="1300" b="1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Differential Drive: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2880360" y="1984248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Times New Roman"/>
              <a:buNone/>
            </a:pPr>
            <a:r>
              <a:rPr lang="en-US" sz="13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Steering method where two independently driven wheels create turns by varying relative speed.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274320" y="2596896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300"/>
              <a:buFont typeface="Times New Roman"/>
              <a:buNone/>
            </a:pPr>
            <a:r>
              <a:rPr lang="en-US" sz="1300" b="1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Proportional Control: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2880360" y="2596896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Times New Roman"/>
              <a:buNone/>
            </a:pPr>
            <a:r>
              <a:rPr lang="en-US" sz="13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law where motor correction is proportional to the sensor deviation error (e = SL - SR).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274320" y="3209544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300"/>
              <a:buFont typeface="Times New Roman"/>
              <a:buNone/>
            </a:pPr>
            <a:r>
              <a:rPr lang="en-US" sz="1300" b="1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HC-SR04: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2880360" y="3209544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Times New Roman"/>
              <a:buNone/>
            </a:pPr>
            <a:r>
              <a:rPr lang="en-US" sz="13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Ultrasonic distance sensor used to detect obstacles ahead of the robot in real time.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274320" y="3822192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300"/>
              <a:buFont typeface="Times New Roman"/>
              <a:buNone/>
            </a:pPr>
            <a:r>
              <a:rPr lang="en-US" sz="1300" b="1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L298N: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2880360" y="3822192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Times New Roman"/>
              <a:buNone/>
            </a:pPr>
            <a:r>
              <a:rPr lang="en-US" sz="13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Dual H-bridge motor driver module that controls direction and speed of two DC motors.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274320" y="443484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300"/>
              <a:buFont typeface="Times New Roman"/>
              <a:buNone/>
            </a:pPr>
            <a:r>
              <a:rPr lang="en-US" sz="1300" b="1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Payload: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2880360" y="4434840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Times New Roman"/>
              <a:buNone/>
            </a:pPr>
            <a:r>
              <a:rPr lang="en-US" sz="13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medical supply load carried in the robot’s onboard storage compartment.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Times New Roman"/>
              <a:buNone/>
            </a:pPr>
            <a:r>
              <a:rPr lang="en-US" sz="11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 cap="flat" cmpd="sng">
            <a:solidFill>
              <a:srgbClr val="1557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</a:pPr>
            <a:r>
              <a:rPr lang="en-US" sz="1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KNOWLEDGE INSTITUTE OF TECHNOLOGY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7" name="Google Shape;207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63840" y="18288"/>
            <a:ext cx="685800" cy="5486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8" name="Google Shape;208;p9"/>
          <p:cNvCxnSpPr/>
          <p:nvPr/>
        </p:nvCxnSpPr>
        <p:spPr>
          <a:xfrm>
            <a:off x="0" y="594360"/>
            <a:ext cx="9144000" cy="0"/>
          </a:xfrm>
          <a:prstGeom prst="straightConnector1">
            <a:avLst/>
          </a:prstGeom>
          <a:noFill/>
          <a:ln w="19050" cap="flat" cmpd="sng">
            <a:solidFill>
              <a:srgbClr val="2E75D4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9" name="Google Shape;209;p9" descr="preencoded.png"/>
          <p:cNvPicPr preferRelativeResize="0"/>
          <p:nvPr/>
        </p:nvPicPr>
        <p:blipFill rotWithShape="1">
          <a:blip r:embed="rId3">
            <a:alphaModFix amt="15000"/>
          </a:blip>
          <a:srcRect/>
          <a:stretch/>
        </p:blipFill>
        <p:spPr>
          <a:xfrm>
            <a:off x="5029200" y="1371600"/>
            <a:ext cx="36576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9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2600"/>
              <a:buFont typeface="Times New Roman"/>
              <a:buNone/>
            </a:pPr>
            <a:r>
              <a:rPr lang="en-US" sz="2600" b="1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Science Principles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274320" y="1417320"/>
            <a:ext cx="73152" cy="548640"/>
          </a:xfrm>
          <a:prstGeom prst="rect">
            <a:avLst/>
          </a:prstGeom>
          <a:solidFill>
            <a:srgbClr val="1557B0"/>
          </a:solidFill>
          <a:ln w="12700" cap="flat" cmpd="sng">
            <a:solidFill>
              <a:srgbClr val="1557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457200" y="1371600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300"/>
              <a:buFont typeface="Times New Roman"/>
              <a:buNone/>
            </a:pPr>
            <a:r>
              <a:rPr lang="en-US" sz="1300" b="1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Reflectance &amp; Optics (IR Sensing):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3703320" y="1371600"/>
            <a:ext cx="5166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Times New Roman"/>
              <a:buNone/>
            </a:pPr>
            <a:r>
              <a:rPr lang="en-US" sz="12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Dark and light surfaces reflect infrared light differently, allowing IR sensors to distinguish the guide path from the floor.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274320" y="2304288"/>
            <a:ext cx="73152" cy="548640"/>
          </a:xfrm>
          <a:prstGeom prst="rect">
            <a:avLst/>
          </a:prstGeom>
          <a:solidFill>
            <a:srgbClr val="1557B0"/>
          </a:solidFill>
          <a:ln w="12700" cap="flat" cmpd="sng">
            <a:solidFill>
              <a:srgbClr val="1557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457200" y="2258568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300"/>
              <a:buFont typeface="Times New Roman"/>
              <a:buNone/>
            </a:pPr>
            <a:r>
              <a:rPr lang="en-US" sz="1300" b="1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Closed-Loop Feedback Control: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3703320" y="2258568"/>
            <a:ext cx="5166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Times New Roman"/>
              <a:buNone/>
            </a:pPr>
            <a:r>
              <a:rPr lang="en-US" sz="12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Continuous sensor error correction (e = SL - SR) adjusts motor speed to keep the robot centred on the path.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274320" y="3191256"/>
            <a:ext cx="73152" cy="548640"/>
          </a:xfrm>
          <a:prstGeom prst="rect">
            <a:avLst/>
          </a:prstGeom>
          <a:solidFill>
            <a:srgbClr val="1557B0"/>
          </a:solidFill>
          <a:ln w="12700" cap="flat" cmpd="sng">
            <a:solidFill>
              <a:srgbClr val="1557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457200" y="3145536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300"/>
              <a:buFont typeface="Times New Roman"/>
              <a:buNone/>
            </a:pPr>
            <a:r>
              <a:rPr lang="en-US" sz="1300" b="1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Acoustic Ranging (Ultrasonic):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3703320" y="3145536"/>
            <a:ext cx="5166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Times New Roman"/>
              <a:buNone/>
            </a:pPr>
            <a:r>
              <a:rPr lang="en-US" sz="12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Sound wave time-of-flight measurement calculates distance to obstacles for collision avoidance.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274320" y="4078224"/>
            <a:ext cx="73152" cy="548640"/>
          </a:xfrm>
          <a:prstGeom prst="rect">
            <a:avLst/>
          </a:prstGeom>
          <a:solidFill>
            <a:srgbClr val="1557B0"/>
          </a:solidFill>
          <a:ln w="12700" cap="flat" cmpd="sng">
            <a:solidFill>
              <a:srgbClr val="1557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457200" y="4032504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300"/>
              <a:buFont typeface="Times New Roman"/>
              <a:buNone/>
            </a:pPr>
            <a:r>
              <a:rPr lang="en-US" sz="1300" b="1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Traction &amp; Load Limits: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3703320" y="4032504"/>
            <a:ext cx="5166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Times New Roman"/>
              <a:buNone/>
            </a:pPr>
            <a:r>
              <a:rPr lang="en-US" sz="12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Wheel-floor friction limits determine the maximum stable payload before slip occurs under motor torque.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Times New Roman"/>
              <a:buNone/>
            </a:pPr>
            <a:r>
              <a:rPr lang="en-US" sz="11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 cap="flat" cmpd="sng">
            <a:solidFill>
              <a:srgbClr val="1557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</a:pPr>
            <a:r>
              <a:rPr lang="en-US" sz="1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KNOWLEDGE INSTITUTE OF TECHNOLOGY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1" name="Google Shape;231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63840" y="18288"/>
            <a:ext cx="685800" cy="5486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2" name="Google Shape;232;p10"/>
          <p:cNvCxnSpPr/>
          <p:nvPr/>
        </p:nvCxnSpPr>
        <p:spPr>
          <a:xfrm>
            <a:off x="0" y="594360"/>
            <a:ext cx="9144000" cy="0"/>
          </a:xfrm>
          <a:prstGeom prst="straightConnector1">
            <a:avLst/>
          </a:prstGeom>
          <a:noFill/>
          <a:ln w="19050" cap="flat" cmpd="sng">
            <a:solidFill>
              <a:srgbClr val="2E75D4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33" name="Google Shape;233;p10" descr="preencoded.png"/>
          <p:cNvPicPr preferRelativeResize="0"/>
          <p:nvPr/>
        </p:nvPicPr>
        <p:blipFill rotWithShape="1">
          <a:blip r:embed="rId3">
            <a:alphaModFix amt="15000"/>
          </a:blip>
          <a:srcRect/>
          <a:stretch/>
        </p:blipFill>
        <p:spPr>
          <a:xfrm>
            <a:off x="5029200" y="1371600"/>
            <a:ext cx="36576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0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2600"/>
              <a:buFont typeface="Times New Roman"/>
              <a:buNone/>
            </a:pPr>
            <a:r>
              <a:rPr lang="en-US" sz="2600" b="1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 Rules and Laws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274320" y="1371600"/>
            <a:ext cx="804672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Times New Roman"/>
              <a:buNone/>
            </a:pPr>
            <a:r>
              <a:rPr lang="en-US" sz="1400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Proportional Steering Law: </a:t>
            </a:r>
            <a:r>
              <a:rPr lang="en-US" sz="14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VL/VR = Vbase -/+ Kp.e  (e = SL - SR) — larger sensor error produces stronger corrective turning.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Times New Roman"/>
              <a:buNone/>
            </a:pPr>
            <a:r>
              <a:rPr lang="en-US" sz="14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Times New Roman"/>
              <a:buNone/>
            </a:pPr>
            <a:r>
              <a:rPr lang="en-US" sz="1400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Ohm's Law (Power Sizing): </a:t>
            </a:r>
            <a:r>
              <a:rPr lang="en-US" sz="14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= I x R — used to size the voltage regulator and current draw for motors and logic circuits.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Times New Roman"/>
              <a:buNone/>
            </a:pPr>
            <a:r>
              <a:rPr lang="en-US" sz="14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Times New Roman"/>
              <a:buNone/>
            </a:pPr>
            <a:r>
              <a:rPr lang="en-US" sz="1400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Distance-Time Law (Ultrasonic): </a:t>
            </a:r>
            <a:r>
              <a:rPr lang="en-US" sz="14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= (v_sound x t) / 2 — echo travel time converted into obstacle distance.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Times New Roman"/>
              <a:buNone/>
            </a:pPr>
            <a:r>
              <a:rPr lang="en-US" sz="14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Times New Roman"/>
              <a:buNone/>
            </a:pPr>
            <a:r>
              <a:rPr lang="en-US" sz="1400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Friction/Traction Limit: </a:t>
            </a:r>
            <a:r>
              <a:rPr lang="en-US" sz="14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Maximum stable payload is limited by wheel-floor friction before slip occurs.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Times New Roman"/>
              <a:buNone/>
            </a:pPr>
            <a:r>
              <a:rPr lang="en-US" sz="14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Times New Roman"/>
              <a:buNone/>
            </a:pPr>
            <a:r>
              <a:rPr lang="en-US" sz="1400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Battery Discharge Rule: </a:t>
            </a:r>
            <a:r>
              <a:rPr lang="en-US" sz="14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Runtime decreases as load current increases; battery capacity (mAh) sets the endurance limit.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Times New Roman"/>
              <a:buNone/>
            </a:pPr>
            <a:r>
              <a:rPr lang="en-US" sz="11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 cap="flat" cmpd="sng">
            <a:solidFill>
              <a:srgbClr val="1557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</a:pPr>
            <a:r>
              <a:rPr lang="en-US" sz="1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KNOWLEDGE INSTITUTE OF TECHNOLOGY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4" name="Google Shape;244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63840" y="18288"/>
            <a:ext cx="685800" cy="5486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5" name="Google Shape;245;p11"/>
          <p:cNvCxnSpPr/>
          <p:nvPr/>
        </p:nvCxnSpPr>
        <p:spPr>
          <a:xfrm>
            <a:off x="0" y="594360"/>
            <a:ext cx="9144000" cy="0"/>
          </a:xfrm>
          <a:prstGeom prst="straightConnector1">
            <a:avLst/>
          </a:prstGeom>
          <a:noFill/>
          <a:ln w="19050" cap="flat" cmpd="sng">
            <a:solidFill>
              <a:srgbClr val="2E75D4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46" name="Google Shape;246;p11" descr="preencoded.png"/>
          <p:cNvPicPr preferRelativeResize="0"/>
          <p:nvPr/>
        </p:nvPicPr>
        <p:blipFill rotWithShape="1">
          <a:blip r:embed="rId3">
            <a:alphaModFix amt="15000"/>
          </a:blip>
          <a:srcRect/>
          <a:stretch/>
        </p:blipFill>
        <p:spPr>
          <a:xfrm>
            <a:off x="5029200" y="1371600"/>
            <a:ext cx="36576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1"/>
          <p:cNvSpPr/>
          <p:nvPr/>
        </p:nvSpPr>
        <p:spPr>
          <a:xfrm>
            <a:off x="274320" y="730813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2600"/>
              <a:buFont typeface="Times New Roman"/>
              <a:buNone/>
            </a:pPr>
            <a:r>
              <a:rPr lang="en-US" sz="2600" b="1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Constants and Variables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274320" y="1371600"/>
            <a:ext cx="3931920" cy="3291840"/>
          </a:xfrm>
          <a:prstGeom prst="rect">
            <a:avLst/>
          </a:prstGeom>
          <a:solidFill>
            <a:srgbClr val="EEF4FF"/>
          </a:solidFill>
          <a:ln w="19050" cap="flat" cmpd="sng">
            <a:solidFill>
              <a:srgbClr val="1557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274320" y="1371600"/>
            <a:ext cx="3931920" cy="411480"/>
          </a:xfrm>
          <a:prstGeom prst="rect">
            <a:avLst/>
          </a:prstGeom>
          <a:solidFill>
            <a:srgbClr val="1557B0"/>
          </a:solidFill>
          <a:ln w="12700" cap="flat" cmpd="sng">
            <a:solidFill>
              <a:srgbClr val="1557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274320" y="137160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</a:pPr>
            <a:r>
              <a:rPr lang="en-US" sz="1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CONSTANTS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274320" y="1874520"/>
            <a:ext cx="3931920" cy="2651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Chassis Dimensions: approx. 30 x 20 x 20 cm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(two-tier)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Obstacle Stop Distance: 15 cm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(ultrasonic threshold)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Battery Endurance: ~40 minutes continuous run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 Rated Payload: 400 g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(500 g causes wheel slip)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Prototype Fabrication Cost: Rs. 2,820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Motor Supply Voltage: 12V DC (via L298N driver)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4572000" y="1371600"/>
            <a:ext cx="4297680" cy="3291840"/>
          </a:xfrm>
          <a:prstGeom prst="rect">
            <a:avLst/>
          </a:prstGeom>
          <a:solidFill>
            <a:srgbClr val="EEF4FF"/>
          </a:solidFill>
          <a:ln w="19050" cap="flat" cmpd="sng">
            <a:solidFill>
              <a:srgbClr val="1557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4572000" y="1371600"/>
            <a:ext cx="4297680" cy="411480"/>
          </a:xfrm>
          <a:prstGeom prst="rect">
            <a:avLst/>
          </a:prstGeom>
          <a:solidFill>
            <a:srgbClr val="1557B0"/>
          </a:solidFill>
          <a:ln w="12700" cap="flat" cmpd="sng">
            <a:solidFill>
              <a:srgbClr val="1557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4572000" y="1371600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</a:pPr>
            <a:r>
              <a:rPr lang="en-US" sz="1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VARIABLES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4572000" y="2034541"/>
            <a:ext cx="4297680" cy="2651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 Error (e = SL - SR): Changes with path deviation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Motor Speed (VL, VR): Adjusts with proportional control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Distance to Obstacle: Varies with corridor obstacles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Payload Mass: Depends on medical supply load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Battery Voltage: Drops over discharge cycle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Times New Roman"/>
              <a:buNone/>
            </a:pPr>
            <a:r>
              <a:rPr lang="en-US" sz="11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 cap="flat" cmpd="sng">
            <a:solidFill>
              <a:srgbClr val="1557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2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INSTITUTE OF TECHNOLOGY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4" name="Google Shape;264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63840" y="18288"/>
            <a:ext cx="685800" cy="5486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5" name="Google Shape;265;p12"/>
          <p:cNvCxnSpPr/>
          <p:nvPr/>
        </p:nvCxnSpPr>
        <p:spPr>
          <a:xfrm>
            <a:off x="0" y="594360"/>
            <a:ext cx="9144000" cy="0"/>
          </a:xfrm>
          <a:prstGeom prst="straightConnector1">
            <a:avLst/>
          </a:prstGeom>
          <a:noFill/>
          <a:ln w="19050" cap="flat" cmpd="sng">
            <a:solidFill>
              <a:srgbClr val="2E75D4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66" name="Google Shape;266;p12" descr="preencoded.png"/>
          <p:cNvPicPr preferRelativeResize="0"/>
          <p:nvPr/>
        </p:nvPicPr>
        <p:blipFill rotWithShape="1">
          <a:blip r:embed="rId3">
            <a:alphaModFix amt="15000"/>
          </a:blip>
          <a:srcRect/>
          <a:stretch/>
        </p:blipFill>
        <p:spPr>
          <a:xfrm>
            <a:off x="5029200" y="1371600"/>
            <a:ext cx="36576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2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2600"/>
              <a:buFont typeface="Times New Roman"/>
              <a:buNone/>
            </a:pPr>
            <a:r>
              <a:rPr lang="en-US" sz="2600" b="1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Equations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274320" y="1371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600"/>
              <a:buFont typeface="Times New Roman"/>
              <a:buNone/>
            </a:pPr>
            <a:r>
              <a:rPr lang="en-US" sz="1600" b="1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Logic Model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274320" y="1783080"/>
            <a:ext cx="8595360" cy="594360"/>
          </a:xfrm>
          <a:prstGeom prst="rect">
            <a:avLst/>
          </a:prstGeom>
          <a:solidFill>
            <a:srgbClr val="E8F0FE"/>
          </a:solidFill>
          <a:ln w="12700" cap="flat" cmpd="sng">
            <a:solidFill>
              <a:srgbClr val="1557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2"/>
          <p:cNvSpPr/>
          <p:nvPr/>
        </p:nvSpPr>
        <p:spPr>
          <a:xfrm>
            <a:off x="274320" y="1783080"/>
            <a:ext cx="8595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3D7A"/>
              </a:buClr>
              <a:buSzPts val="1300"/>
              <a:buFont typeface="Times New Roman"/>
              <a:buNone/>
            </a:pPr>
            <a:r>
              <a:rPr lang="en-US" sz="1300" b="1">
                <a:solidFill>
                  <a:srgbClr val="0D3D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 Path Sensing  &gt;&gt;  Error Calculation  &gt;&gt;  Proportional Steering  &gt;&gt;  Differential Drive  &gt;&gt;  Ultrasonic Override  &gt;&gt;  Safe Delivery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274320" y="2468880"/>
            <a:ext cx="8229600" cy="246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Times New Roman"/>
              <a:buNone/>
            </a:pPr>
            <a:r>
              <a:rPr lang="en-US" sz="1400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Line-Following Error: </a:t>
            </a:r>
            <a:r>
              <a:rPr lang="en-US" sz="14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= SL - SR   (SL, SR = left and right IR sensor readings)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Times New Roman"/>
              <a:buNone/>
            </a:pPr>
            <a:r>
              <a:rPr lang="en-US" sz="14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Times New Roman"/>
              <a:buNone/>
            </a:pPr>
            <a:r>
              <a:rPr lang="en-US" sz="1400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Motor Speed Control: </a:t>
            </a:r>
            <a:r>
              <a:rPr lang="en-US" sz="14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VL = Vbase - Kp.e ,  VR = Vbase + Kp.e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Times New Roman"/>
              <a:buNone/>
            </a:pPr>
            <a:r>
              <a:rPr lang="en-US" sz="14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Times New Roman"/>
              <a:buNone/>
            </a:pPr>
            <a:r>
              <a:rPr lang="en-US" sz="1400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Obstacle Distance: </a:t>
            </a:r>
            <a:r>
              <a:rPr lang="en-US" sz="14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= (v_sound x t) / 2   (t = ultrasonic echo return time)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Times New Roman"/>
              <a:buNone/>
            </a:pPr>
            <a:r>
              <a:rPr lang="en-US" sz="14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Times New Roman"/>
              <a:buNone/>
            </a:pPr>
            <a:r>
              <a:rPr lang="en-US" sz="1400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Result: </a:t>
            </a:r>
            <a:r>
              <a:rPr lang="en-US" sz="14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Reliable path tracking with automatic stop within 15 cm of obstacles, confirmed across repeated trials</a:t>
            </a:r>
            <a:r>
              <a:rPr lang="en-US" sz="14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 cap="flat" cmpd="sng">
            <a:solidFill>
              <a:srgbClr val="1557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3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</a:pPr>
            <a:r>
              <a:rPr lang="en-US" sz="1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KNOWLEDGE INSTITUTE OF TECHNOLOGY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0" name="Google Shape;280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63840" y="18288"/>
            <a:ext cx="685800" cy="5486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1" name="Google Shape;281;p13"/>
          <p:cNvCxnSpPr/>
          <p:nvPr/>
        </p:nvCxnSpPr>
        <p:spPr>
          <a:xfrm>
            <a:off x="0" y="594360"/>
            <a:ext cx="9144000" cy="0"/>
          </a:xfrm>
          <a:prstGeom prst="straightConnector1">
            <a:avLst/>
          </a:prstGeom>
          <a:noFill/>
          <a:ln w="19050" cap="flat" cmpd="sng">
            <a:solidFill>
              <a:srgbClr val="2E75D4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82" name="Google Shape;282;p13" descr="preencoded.png"/>
          <p:cNvPicPr preferRelativeResize="0"/>
          <p:nvPr/>
        </p:nvPicPr>
        <p:blipFill rotWithShape="1">
          <a:blip r:embed="rId3">
            <a:alphaModFix amt="15000"/>
          </a:blip>
          <a:srcRect/>
          <a:stretch/>
        </p:blipFill>
        <p:spPr>
          <a:xfrm>
            <a:off x="5029200" y="1371600"/>
            <a:ext cx="36576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3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2600"/>
              <a:buFont typeface="Times New Roman"/>
              <a:buNone/>
            </a:pPr>
            <a:r>
              <a:rPr lang="en-US" sz="2600" b="1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What-If Analysis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274320" y="1371600"/>
            <a:ext cx="8595360" cy="749808"/>
          </a:xfrm>
          <a:prstGeom prst="rect">
            <a:avLst/>
          </a:prstGeom>
          <a:solidFill>
            <a:srgbClr val="EEF4FF"/>
          </a:solidFill>
          <a:ln w="9525" cap="flat" cmpd="sng">
            <a:solidFill>
              <a:srgbClr val="1557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3"/>
          <p:cNvSpPr/>
          <p:nvPr/>
        </p:nvSpPr>
        <p:spPr>
          <a:xfrm>
            <a:off x="411480" y="140817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300"/>
              <a:buFont typeface="Times New Roman"/>
              <a:buNone/>
            </a:pPr>
            <a:r>
              <a:rPr lang="en-US" sz="1300" b="1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Q: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731520" y="1408176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3D7A"/>
              </a:buClr>
              <a:buSzPts val="1300"/>
              <a:buFont typeface="Times New Roman"/>
              <a:buNone/>
            </a:pPr>
            <a:r>
              <a:rPr lang="en-US" sz="1300" b="1">
                <a:solidFill>
                  <a:srgbClr val="0D3D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if the line-following path has a sharp turn?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731520" y="1755648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Times New Roman"/>
              <a:buNone/>
            </a:pPr>
            <a:r>
              <a:rPr lang="en-US" sz="12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Larger sensor error increases proportional correction; beyond the Kp range the robot may momentarily lose the line and need re-centering.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274320" y="2258568"/>
            <a:ext cx="8595360" cy="749808"/>
          </a:xfrm>
          <a:prstGeom prst="rect">
            <a:avLst/>
          </a:prstGeom>
          <a:solidFill>
            <a:srgbClr val="F8FBFF"/>
          </a:solidFill>
          <a:ln w="9525" cap="flat" cmpd="sng">
            <a:solidFill>
              <a:srgbClr val="1557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3"/>
          <p:cNvSpPr/>
          <p:nvPr/>
        </p:nvSpPr>
        <p:spPr>
          <a:xfrm>
            <a:off x="411480" y="229514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300"/>
              <a:buFont typeface="Times New Roman"/>
              <a:buNone/>
            </a:pPr>
            <a:r>
              <a:rPr lang="en-US" sz="1300" b="1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Q: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731520" y="2295144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3D7A"/>
              </a:buClr>
              <a:buSzPts val="1300"/>
              <a:buFont typeface="Times New Roman"/>
              <a:buNone/>
            </a:pPr>
            <a:r>
              <a:rPr lang="en-US" sz="1300" b="1">
                <a:solidFill>
                  <a:srgbClr val="0D3D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if an obstacle appears suddenly close to the sensor?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731520" y="2642616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Times New Roman"/>
              <a:buNone/>
            </a:pPr>
            <a:r>
              <a:rPr lang="en-US" sz="12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ultrasonic threshold triggers an immediate stop at 15 cm, overriding line-following until the path is clear.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274320" y="3145536"/>
            <a:ext cx="8595360" cy="749808"/>
          </a:xfrm>
          <a:prstGeom prst="rect">
            <a:avLst/>
          </a:prstGeom>
          <a:solidFill>
            <a:srgbClr val="EEF4FF"/>
          </a:solidFill>
          <a:ln w="9525" cap="flat" cmpd="sng">
            <a:solidFill>
              <a:srgbClr val="1557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3"/>
          <p:cNvSpPr/>
          <p:nvPr/>
        </p:nvSpPr>
        <p:spPr>
          <a:xfrm>
            <a:off x="411480" y="3182112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300"/>
              <a:buFont typeface="Times New Roman"/>
              <a:buNone/>
            </a:pPr>
            <a:r>
              <a:rPr lang="en-US" sz="1300" b="1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Q: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731520" y="3182112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3D7A"/>
              </a:buClr>
              <a:buSzPts val="1300"/>
              <a:buFont typeface="Times New Roman"/>
              <a:buNone/>
            </a:pPr>
            <a:r>
              <a:rPr lang="en-US" sz="1300" b="1">
                <a:solidFill>
                  <a:srgbClr val="0D3D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if payload exceeds the rated 400 g?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731520" y="3529584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Times New Roman"/>
              <a:buNone/>
            </a:pPr>
            <a:r>
              <a:rPr lang="en-US" sz="12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Wheel traction is exceeded (observed at 500 g), causing slip and loss of navigation accuracy.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274320" y="4032504"/>
            <a:ext cx="8595360" cy="749808"/>
          </a:xfrm>
          <a:prstGeom prst="rect">
            <a:avLst/>
          </a:prstGeom>
          <a:solidFill>
            <a:srgbClr val="F8FBFF"/>
          </a:solidFill>
          <a:ln w="9525" cap="flat" cmpd="sng">
            <a:solidFill>
              <a:srgbClr val="1557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3"/>
          <p:cNvSpPr/>
          <p:nvPr/>
        </p:nvSpPr>
        <p:spPr>
          <a:xfrm>
            <a:off x="411480" y="406908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300"/>
              <a:buFont typeface="Times New Roman"/>
              <a:buNone/>
            </a:pPr>
            <a:r>
              <a:rPr lang="en-US" sz="1300" b="1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Q: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731520" y="4069080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3D7A"/>
              </a:buClr>
              <a:buSzPts val="1300"/>
              <a:buFont typeface="Times New Roman"/>
              <a:buNone/>
            </a:pPr>
            <a:r>
              <a:rPr lang="en-US" sz="1300" b="1">
                <a:solidFill>
                  <a:srgbClr val="0D3D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if the battery voltage drops significantly?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731520" y="4416552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Times New Roman"/>
              <a:buNone/>
            </a:pPr>
            <a:r>
              <a:rPr lang="en-US" sz="12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Motor torque and speed fall, increasing steering error and reducing obstacle-response reliability near the ~40-minute mark.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Times New Roman"/>
              <a:buNone/>
            </a:pPr>
            <a:r>
              <a:rPr lang="en-US" sz="11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4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 cap="flat" cmpd="sng">
            <a:solidFill>
              <a:srgbClr val="1557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4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</a:pPr>
            <a:r>
              <a:rPr lang="en-US" sz="1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KNOWLEDGE INSTITUTE OF TECHNOLOGY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8" name="Google Shape;308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63840" y="18288"/>
            <a:ext cx="685800" cy="5486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9" name="Google Shape;309;p14"/>
          <p:cNvCxnSpPr/>
          <p:nvPr/>
        </p:nvCxnSpPr>
        <p:spPr>
          <a:xfrm>
            <a:off x="0" y="594360"/>
            <a:ext cx="9144000" cy="0"/>
          </a:xfrm>
          <a:prstGeom prst="straightConnector1">
            <a:avLst/>
          </a:prstGeom>
          <a:noFill/>
          <a:ln w="19050" cap="flat" cmpd="sng">
            <a:solidFill>
              <a:srgbClr val="2E75D4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10" name="Google Shape;310;p14" descr="preencoded.png"/>
          <p:cNvPicPr preferRelativeResize="0"/>
          <p:nvPr/>
        </p:nvPicPr>
        <p:blipFill rotWithShape="1">
          <a:blip r:embed="rId3">
            <a:alphaModFix amt="15000"/>
          </a:blip>
          <a:srcRect/>
          <a:stretch/>
        </p:blipFill>
        <p:spPr>
          <a:xfrm>
            <a:off x="5029200" y="1371600"/>
            <a:ext cx="36576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4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2600"/>
              <a:buFont typeface="Times New Roman"/>
              <a:buNone/>
            </a:pPr>
            <a:r>
              <a:rPr lang="en-US" sz="2600" b="1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Times New Roman"/>
              <a:buNone/>
            </a:pPr>
            <a:r>
              <a:rPr lang="en-US" sz="11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3" name="Google Shape;313;p14"/>
          <p:cNvSpPr txBox="1"/>
          <p:nvPr/>
        </p:nvSpPr>
        <p:spPr>
          <a:xfrm>
            <a:off x="906966" y="1329894"/>
            <a:ext cx="7698059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Mediroute: Autonomous Medical Supply Delivery Robot for Hospitals</a:t>
            </a: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project successfully demonstrates a low-cost autonomous delivery system for transporting medical supplies within hospital corridors. The robot uses Arduino UNO-based control, IR line-following sensors, ultrasonic obstacle detection, and differential-drive motors to achieve reliable path tracking and safe navigation. The prototype provides contact-free delivery with a payload capacity of up to 400 g, operates for approximately 40 minutes, and automatically stops when an obstacle is detected within 15 cm. the system offers a practical and economical solution for small-scale hospital logistics. The project can be further enhanced through IoT-based real-time tracking, RFID-based ward identification, SLAM navigation, and multi-robot coordination.</a:t>
            </a:r>
            <a:endParaRPr/>
          </a:p>
        </p:txBody>
      </p:sp>
      <p:sp>
        <p:nvSpPr>
          <p:cNvPr id="314" name="Google Shape;314;p14"/>
          <p:cNvSpPr/>
          <p:nvPr/>
        </p:nvSpPr>
        <p:spPr>
          <a:xfrm>
            <a:off x="229715" y="39090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2600"/>
              <a:buFont typeface="Times New Roman"/>
              <a:buNone/>
            </a:pPr>
            <a:r>
              <a:rPr lang="en-US" sz="2600" b="1" i="1" dirty="0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 </a:t>
            </a:r>
            <a:endParaRPr sz="2600" i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1389</Words>
  <Application>Microsoft Office PowerPoint</Application>
  <PresentationFormat>On-screen Show (16:9)</PresentationFormat>
  <Paragraphs>196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AMBIKA B</cp:lastModifiedBy>
  <cp:revision>1</cp:revision>
  <dcterms:created xsi:type="dcterms:W3CDTF">2026-03-27T13:42:01Z</dcterms:created>
  <dcterms:modified xsi:type="dcterms:W3CDTF">2026-09-10T14:58:04Z</dcterms:modified>
</cp:coreProperties>
</file>