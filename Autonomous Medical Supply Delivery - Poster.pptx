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62" r:id="rId1"/>
    <p:sldMasterId id="2147483672" r:id="rId2"/>
  </p:sldMasterIdLst>
  <p:notesMasterIdLst>
    <p:notesMasterId r:id="rId4"/>
  </p:notesMasterIdLst>
  <p:handoutMasterIdLst>
    <p:handoutMasterId r:id="rId5"/>
  </p:handoutMasterIdLst>
  <p:sldIdLst>
    <p:sldId id="259" r:id="rId3"/>
  </p:sldIdLst>
  <p:sldSz cx="21388388" cy="30279975"/>
  <p:notesSz cx="14663738" cy="20926425"/>
  <p:embeddedFontLst>
    <p:embeddedFont>
      <p:font typeface="Rdg Vesta" panose="020B0604020202020204" charset="0"/>
      <p:regular r:id="rId6"/>
      <p:bold r:id="rId7"/>
      <p:italic r:id="rId8"/>
      <p:boldItalic r:id="rId9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52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6591">
          <p15:clr>
            <a:srgbClr val="A4A3A4"/>
          </p15:clr>
        </p15:guide>
        <p15:guide id="2" pos="461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6E6E6"/>
    <a:srgbClr val="106D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7440" autoAdjust="0"/>
  </p:normalViewPr>
  <p:slideViewPr>
    <p:cSldViewPr showGuides="1">
      <p:cViewPr>
        <p:scale>
          <a:sx n="66" d="100"/>
          <a:sy n="66" d="100"/>
        </p:scale>
        <p:origin x="-1205" y="-8453"/>
      </p:cViewPr>
      <p:guideLst>
        <p:guide orient="horz"/>
        <p:guide pos="52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27" d="100"/>
          <a:sy n="27" d="100"/>
        </p:scale>
        <p:origin x="3326" y="96"/>
      </p:cViewPr>
      <p:guideLst>
        <p:guide orient="horz" pos="6591"/>
        <p:guide pos="46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354763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305800" y="0"/>
            <a:ext cx="6354763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9877088"/>
            <a:ext cx="6354763" cy="104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8305800" y="19877088"/>
            <a:ext cx="6354763" cy="104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106BD75-3EFD-4C18-B180-068DCC7276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4212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354763" cy="10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t" anchorCtr="0" compatLnSpc="1">
            <a:prstTxWarp prst="textNoShape">
              <a:avLst/>
            </a:prstTxWarp>
          </a:bodyPr>
          <a:lstStyle>
            <a:lvl1pPr defTabSz="2033588" eaLnBrk="0" hangingPunct="0">
              <a:defRPr sz="27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8305800" y="0"/>
            <a:ext cx="6356350" cy="10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t" anchorCtr="0" compatLnSpc="1">
            <a:prstTxWarp prst="textNoShape">
              <a:avLst/>
            </a:prstTxWarp>
          </a:bodyPr>
          <a:lstStyle>
            <a:lvl1pPr algn="r" defTabSz="2033588" eaLnBrk="0" hangingPunct="0">
              <a:defRPr sz="27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64063" y="1570038"/>
            <a:ext cx="5543550" cy="7850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466850" y="9942513"/>
            <a:ext cx="11730038" cy="941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9877088"/>
            <a:ext cx="6354763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b" anchorCtr="0" compatLnSpc="1">
            <a:prstTxWarp prst="textNoShape">
              <a:avLst/>
            </a:prstTxWarp>
          </a:bodyPr>
          <a:lstStyle>
            <a:lvl1pPr defTabSz="2033588" eaLnBrk="0" hangingPunct="0">
              <a:defRPr sz="27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8305800" y="19877088"/>
            <a:ext cx="63563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b" anchorCtr="0" compatLnSpc="1">
            <a:prstTxWarp prst="textNoShape">
              <a:avLst/>
            </a:prstTxWarp>
          </a:bodyPr>
          <a:lstStyle>
            <a:lvl1pPr algn="r" defTabSz="2033588" eaLnBrk="0" hangingPunct="0">
              <a:defRPr sz="2700"/>
            </a:lvl1pPr>
          </a:lstStyle>
          <a:p>
            <a:pPr>
              <a:defRPr/>
            </a:pPr>
            <a:fld id="{5778D20B-1032-4243-B265-D2D63470AE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5309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78D20B-1032-4243-B265-D2D63470AEBF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455613" marR="0" lvl="1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455613" marR="0" lvl="2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455613" marR="0" lvl="3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732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7" userDrawn="1">
          <p15:clr>
            <a:srgbClr val="FBAE40"/>
          </p15:clr>
        </p15:guide>
        <p15:guide id="2" pos="673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380693-CD9F-49AC-BAC4-1F4C633D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92723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Bhuvanan M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Aravinth R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Ambika B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29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Dharaneshwaran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endParaRPr lang="en-GB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29" name="Picture 34" descr="KIOT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6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7" userDrawn="1">
          <p15:clr>
            <a:srgbClr val="F26B43"/>
          </p15:clr>
        </p15:guide>
        <p15:guide id="2" pos="67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2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3   (edit this list via View &gt; Slide Master)</a:t>
            </a:r>
            <a:endParaRPr lang="en-GB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29" name="Picture 34" descr="KIOT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5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2k23me003@kiot.ac.in" TargetMode="External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2k23me020@kiot.ac.in" TargetMode="External"/><Relationship Id="rId5" Type="http://schemas.openxmlformats.org/officeDocument/2006/relationships/hyperlink" Target="mailto:2k23me013@kiot.ac.in" TargetMode="External"/><Relationship Id="rId4" Type="http://schemas.openxmlformats.org/officeDocument/2006/relationships/hyperlink" Target="mailto:2k23me006@kiot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23850" y="5635625"/>
            <a:ext cx="975677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446088" indent="-446088">
              <a:spcBef>
                <a:spcPts val="0"/>
              </a:spcBef>
              <a:buNone/>
            </a:pPr>
            <a:r>
              <a:rPr lang="en-GB" sz="27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sz="2700" b="1" kern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Abstract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155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designs and builds an autonomous line-following robot using an Arduino Uno. Three IR    sensors detect a guide path on the floor, and an L293D motor driver controls two DC motors to keep the robot centred on the line. Powered by a battery pack, the robot is fully self-contained. Testing on straight paths, curves, and intersections confirmed reliable, low-deviation tracking, demonstrating core embedded-systems and closed-loop control principles.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700" b="1" kern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Problem Statement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Manual guided-path transport is slow and error-prone. A low-cost, autonomous system that reliably follows a set path without supervision is needed.</a:t>
            </a: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700" b="1" kern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Need for the Project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55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Automated guided vehicles cut labour and errors in warehouses and factories. This project gives students an affordable platform to learn embedded control and motor-driven navigation.</a:t>
            </a: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700" b="1" kern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Project Objectives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 low-cost robot that follows a defined line path.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Interface an IR sensor array with Arduino for real-time path detection.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motor control logic for accurate, dual-motor path tracking.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700" b="1" kern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Expected Learning Outcomes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Hands-on experience with embedded programming and sensor interfacing.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 understanding of motor driver circuits and chassis design.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700" b="1" kern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System Requirements</a:t>
            </a:r>
          </a:p>
          <a:p>
            <a:pPr marL="358775" indent="-358775">
              <a:spcBef>
                <a:spcPts val="1000"/>
              </a:spcBef>
              <a:buNone/>
            </a:pPr>
            <a:r>
              <a:rPr lang="en-GB" sz="22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Arduino Uno, 3-channel IR sensor array, L293D motor driver, 2 DC geared motors, breadboard, battery pack, chassis</a:t>
            </a:r>
          </a:p>
          <a:p>
            <a:pPr marL="358775" indent="-358775">
              <a:spcBef>
                <a:spcPts val="1000"/>
              </a:spcBef>
              <a:buNone/>
            </a:pPr>
            <a:r>
              <a:rPr lang="en-GB" sz="22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Arduino IDE, C/C++, Fritzing (circuit design)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700" b="1" kern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Methodology / Workflow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The IR array scans the track; the Arduino compares readings to a threshold and sends motor commands to the L293D driver to keep the robot on the line.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700" b="1" kern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System Architecture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55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Sense-think-act loop: IR sensors (sense) feed the Arduino (think), which drives the L293D module to actuate two DC motors (act), powered by a battery pack.</a:t>
            </a:r>
          </a:p>
          <a:p>
            <a:pPr>
              <a:spcBef>
                <a:spcPts val="900"/>
              </a:spcBef>
            </a:pP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700" b="1" kern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Block Diagram</a:t>
            </a:r>
          </a:p>
          <a:p>
            <a:pPr marL="358775" indent="-358775">
              <a:spcBef>
                <a:spcPts val="600"/>
              </a:spcBef>
              <a:buNone/>
            </a:pPr>
            <a:endParaRPr lang="en-GB" sz="2700" b="1" kern="12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3500"/>
              </a:spcBef>
            </a:pP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700" b="1" kern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Project Development Process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Stages: requirement analysis, component selection, circuit prototyping, firmware development, chassis assembly, and iterative testing.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700" b="1" kern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Implementation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8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IR sensors, Arduino, and the L293D driver were wired per the circuit design; the sketch reads sensors, decides turn direction, and sends PWM signals to the motors.</a:t>
            </a: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700" b="1" kern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Algorithms / Models Used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55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Threshold-based line detection algorithm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55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Proportional motor-speed correction logic</a:t>
            </a:r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663561"/>
            <a:ext cx="20131088" cy="2987675"/>
          </a:xfrm>
        </p:spPr>
        <p:txBody>
          <a:bodyPr/>
          <a:lstStyle/>
          <a:p>
            <a:pPr algn="ctr"/>
            <a:r>
              <a:rPr lang="en-GB" sz="6000" dirty="0"/>
              <a:t>Autonomous Medical Supply – Delivery robot for hospital</a:t>
            </a:r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10694194" y="24357012"/>
            <a:ext cx="8928992" cy="2923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 lIns="287990" tIns="179993" rIns="0" bIns="179993">
            <a:spAutoFit/>
          </a:bodyPr>
          <a:lstStyle/>
          <a:p>
            <a:pPr marL="266700" indent="-266700" defTabSz="912813" eaLnBrk="0" hangingPunct="0">
              <a:spcBef>
                <a:spcPts val="1600"/>
              </a:spcBef>
            </a:pPr>
            <a:r>
              <a:rPr lang="en-GB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lvl="0"/>
            <a:r>
              <a:rPr lang="en-IN" sz="1600" b="1" dirty="0"/>
              <a:t>1.  Design and Construction of Line Following Robot using Arduino, </a:t>
            </a:r>
            <a:r>
              <a:rPr lang="en-IN" sz="1600" i="1" dirty="0"/>
              <a:t>International Journal of Trend in Scientific Research and Development (IJTSRD)</a:t>
            </a:r>
            <a:r>
              <a:rPr lang="en-IN" sz="1600" dirty="0"/>
              <a:t>, Vol. 3, Issue 4, May–Jun 2019.</a:t>
            </a:r>
          </a:p>
          <a:p>
            <a:pPr lvl="0"/>
            <a:endParaRPr lang="en-IN" sz="1600" dirty="0"/>
          </a:p>
          <a:p>
            <a:pPr marL="342900" lvl="0" indent="-342900">
              <a:buAutoNum type="arabicPeriod" startAt="2"/>
            </a:pPr>
            <a:r>
              <a:rPr lang="en-IN" sz="1600" b="1" dirty="0"/>
              <a:t>Path Following Robot using Arduino and IR Sensors,</a:t>
            </a:r>
            <a:r>
              <a:rPr lang="en-IN" sz="1600" dirty="0"/>
              <a:t> </a:t>
            </a:r>
            <a:r>
              <a:rPr lang="en-IN" sz="1600" i="1" dirty="0"/>
              <a:t>International Research Journal of Engineering and Technology (IRJET)</a:t>
            </a:r>
            <a:r>
              <a:rPr lang="en-IN" sz="1600" dirty="0"/>
              <a:t>, Vol. 11, Issue 5, May 2024.</a:t>
            </a:r>
          </a:p>
          <a:p>
            <a:pPr lvl="0"/>
            <a:r>
              <a:rPr lang="en-GB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ts val="500"/>
              </a:spcBef>
              <a:buClr>
                <a:schemeClr val="tx2"/>
              </a:buClr>
              <a:buFontTx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We thank our project guide and faculty mentors (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MR. A. Kamalakannan, B.E., M.E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ts val="500"/>
              </a:spcBef>
              <a:buClr>
                <a:schemeClr val="tx2"/>
              </a:buClr>
              <a:buFontTx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Thanks to the lab staff for providing access to components and tools.</a:t>
            </a:r>
          </a:p>
        </p:txBody>
      </p:sp>
      <p:sp>
        <p:nvSpPr>
          <p:cNvPr id="2052" name="Text Box 8"/>
          <p:cNvSpPr txBox="1">
            <a:spLocks noChangeArrowheads="1"/>
          </p:cNvSpPr>
          <p:nvPr/>
        </p:nvSpPr>
        <p:spPr bwMode="auto">
          <a:xfrm>
            <a:off x="10691604" y="27741387"/>
            <a:ext cx="8928992" cy="2386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 lIns="287990" tIns="179993" rIns="0" bIns="179993" anchor="b">
            <a:spAutoFit/>
          </a:bodyPr>
          <a:lstStyle/>
          <a:p>
            <a:pPr marL="266700" indent="-266700" defTabSz="912813" eaLnBrk="0" hangingPunct="0">
              <a:spcBef>
                <a:spcPts val="1600"/>
              </a:spcBef>
            </a:pPr>
            <a:r>
              <a:rPr lang="en-GB" sz="155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information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ts val="500"/>
              </a:spcBef>
              <a:buClr>
                <a:schemeClr val="tx2"/>
              </a:buClr>
              <a:buFontTx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Department of Mechanical Engineering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ts val="500"/>
              </a:spcBef>
              <a:buClr>
                <a:schemeClr val="tx2"/>
              </a:buClr>
              <a:buFontTx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Knowledge Institute of Technology, Salem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2k23me003@kiot.ac.in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2k23me006@kiot.ac.in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2k23me013@kiot.ac.in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2k23me020@kiot.ac.in</a:t>
            </a:r>
            <a:endParaRPr lang="en-GB" sz="1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6700" indent="-266700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College website 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www.kiot.ac.in</a:t>
            </a:r>
            <a:endParaRPr lang="en-GB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6" name="Rectangle 19"/>
          <p:cNvSpPr>
            <a:spLocks noChangeArrowheads="1"/>
          </p:cNvSpPr>
          <p:nvPr/>
        </p:nvSpPr>
        <p:spPr bwMode="auto">
          <a:xfrm>
            <a:off x="541066" y="27309339"/>
            <a:ext cx="3439346" cy="2446338"/>
          </a:xfrm>
          <a:prstGeom prst="rect">
            <a:avLst/>
          </a:prstGeom>
          <a:noFill/>
          <a:ln w="19050" cap="rnd">
            <a:solidFill>
              <a:schemeClr val="tx2"/>
            </a:solidFill>
            <a:prstDash val="sysDot"/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en-US" sz="1800" dirty="0">
                <a:solidFill>
                  <a:schemeClr val="tx2"/>
                </a:solidFill>
                <a:latin typeface="Arial" charset="0"/>
              </a:rPr>
              <a:t>[Insert QR Code]</a:t>
            </a:r>
          </a:p>
        </p:txBody>
      </p:sp>
      <p:sp>
        <p:nvSpPr>
          <p:cNvPr id="2057" name="Text Box 20"/>
          <p:cNvSpPr txBox="1">
            <a:spLocks noChangeArrowheads="1"/>
          </p:cNvSpPr>
          <p:nvPr/>
        </p:nvSpPr>
        <p:spPr bwMode="auto">
          <a:xfrm>
            <a:off x="4202816" y="27957411"/>
            <a:ext cx="2828779" cy="1323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7" rIns="91436" bIns="45717">
            <a:spAutoFit/>
          </a:bodyPr>
          <a:lstStyle/>
          <a:p>
            <a:r>
              <a:rPr lang="en-GB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QR Code — Project Report (PDF) | Source Code Repository | Demonstration Video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53AB2554-C850-4719-A3D9-8A7C5FE0E37B}"/>
              </a:ext>
            </a:extLst>
          </p:cNvPr>
          <p:cNvSpPr txBox="1">
            <a:spLocks/>
          </p:cNvSpPr>
          <p:nvPr/>
        </p:nvSpPr>
        <p:spPr bwMode="auto">
          <a:xfrm>
            <a:off x="10987089" y="5631457"/>
            <a:ext cx="9644062" cy="1916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60000" indent="-360000" algn="l" defTabSz="2952750" rtl="0" eaLnBrk="1" fontAlgn="base" hangingPunct="1">
              <a:lnSpc>
                <a:spcPct val="125000"/>
              </a:lnSpc>
              <a:spcBef>
                <a:spcPts val="1400"/>
              </a:spcBef>
              <a:spcAft>
                <a:spcPct val="0"/>
              </a:spcAft>
              <a:buClr>
                <a:schemeClr val="tx2"/>
              </a:buClr>
              <a:buChar char="•"/>
              <a:defRPr sz="155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20000" indent="-360000" algn="l" defTabSz="2952750" rtl="0" eaLnBrk="1" fontAlgn="base" hangingPunct="1">
              <a:lnSpc>
                <a:spcPct val="125000"/>
              </a:lnSpc>
              <a:spcBef>
                <a:spcPts val="1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 sz="15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 algn="l" defTabSz="2952750" rtl="0" eaLnBrk="1" fontAlgn="base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 algn="l" defTabSz="2952750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 algn="l" defTabSz="2952750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0194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4766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9338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910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446088" indent="-446088">
              <a:spcBef>
                <a:spcPts val="0"/>
              </a:spcBef>
              <a:buNone/>
            </a:pPr>
            <a:r>
              <a:rPr lang="en-GB" sz="2300" b="1" dirty="0">
                <a:solidFill>
                  <a:schemeClr val="tx2"/>
                </a:solidFill>
              </a:rPr>
              <a:t>    </a:t>
            </a:r>
            <a:r>
              <a:rPr lang="en-GB" sz="23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/ Input Data (if applicable)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800" kern="1200" dirty="0"/>
              <a:t>      No fixed dataset — the system uses real-time IR sensor readings, calibrated using ambient-light samples before each run.</a:t>
            </a:r>
            <a:endParaRPr lang="en-GB" sz="1000" dirty="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300" b="1" dirty="0">
                <a:solidFill>
                  <a:schemeClr val="tx2"/>
                </a:solidFill>
              </a:rPr>
              <a:t>    </a:t>
            </a:r>
            <a:r>
              <a:rPr lang="en-GB" sz="23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Setup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800" kern="1200" dirty="0"/>
              <a:t>      Tested on a 3 m track with black tape on white, including straight segments, curves, and a 90° intersection under normal indoor lighting.</a:t>
            </a:r>
            <a:endParaRPr lang="en-GB" sz="1800" dirty="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300" b="1" dirty="0">
                <a:solidFill>
                  <a:schemeClr val="tx2"/>
                </a:solidFill>
              </a:rPr>
              <a:t>    </a:t>
            </a:r>
            <a:r>
              <a:rPr lang="en-GB" sz="23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350" kern="1200" dirty="0"/>
              <a:t>       </a:t>
            </a:r>
            <a:r>
              <a:rPr lang="en-GB" sz="1800" kern="1200" dirty="0"/>
              <a:t>The robot tracked the line reliably across all segments, with under 1 cm deviation on curves and consistent recovery at intersections.</a:t>
            </a:r>
            <a:endParaRPr lang="en-GB" sz="1000" dirty="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300" b="1" dirty="0">
                <a:solidFill>
                  <a:schemeClr val="tx2"/>
                </a:solidFill>
              </a:rPr>
              <a:t>    </a:t>
            </a:r>
            <a:r>
              <a:rPr lang="en-GB" sz="23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Evaluation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800" kern="1200" dirty="0"/>
              <a:t>      Evaluated on tracking accuracy, sensor response time, and average speed — all showed consistent real-time correction.</a:t>
            </a:r>
            <a:endParaRPr lang="en-GB" sz="1000" dirty="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300" b="1" dirty="0">
                <a:solidFill>
                  <a:schemeClr val="tx2"/>
                </a:solidFill>
              </a:rPr>
              <a:t>    </a:t>
            </a:r>
            <a:r>
              <a:rPr lang="en-GB" sz="23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and Validation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350" kern="1200" dirty="0"/>
              <a:t>        </a:t>
            </a:r>
            <a:r>
              <a:rPr lang="en-GB" sz="1800" kern="1200" dirty="0"/>
              <a:t>Validated across multiple track layouts, repeated runs, and varying lighting to confirm repeatable line-following.</a:t>
            </a:r>
            <a:endParaRPr lang="en-GB" sz="1000" dirty="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300" b="1" dirty="0">
                <a:solidFill>
                  <a:schemeClr val="tx2"/>
                </a:solidFill>
              </a:rPr>
              <a:t>     </a:t>
            </a:r>
            <a:r>
              <a:rPr lang="en-GB" sz="23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Encountered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/>
              <a:t>Sensor readings were sensitive to ambient light, causing false detections.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/>
              <a:t>Slight motor speed mismatch caused drift on straight runs.</a:t>
            </a:r>
            <a:endParaRPr lang="en-GB" sz="1000" dirty="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3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Solutions Implemented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/>
              <a:t>Added a calibration routine to adjust sensor thresholds per run.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/>
              <a:t>Applied software speed compensation to balance the motors</a:t>
            </a:r>
            <a:r>
              <a:rPr lang="en-GB" sz="1350" kern="1200" dirty="0"/>
              <a:t>.</a:t>
            </a:r>
          </a:p>
          <a:p>
            <a:pPr>
              <a:spcBef>
                <a:spcPts val="700"/>
              </a:spcBef>
            </a:pPr>
            <a:endParaRPr lang="en-GB" sz="1000" dirty="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300" b="1" dirty="0">
                <a:solidFill>
                  <a:schemeClr val="tx2"/>
                </a:solidFill>
              </a:rPr>
              <a:t>    </a:t>
            </a:r>
            <a:r>
              <a:rPr lang="en-GB" sz="23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/ Novel Features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800" kern="1200" dirty="0"/>
              <a:t>       A lightweight threshold-calibration routine lets the robot adapt to lighting changes without hardware modification.</a:t>
            </a:r>
            <a:endParaRPr lang="en-GB" sz="1800" dirty="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300" b="1" dirty="0">
                <a:solidFill>
                  <a:schemeClr val="tx2"/>
                </a:solidFill>
              </a:rPr>
              <a:t>     </a:t>
            </a:r>
            <a:r>
              <a:rPr lang="en-GB" sz="23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/>
              <a:t>Automated material handling in warehouses and factories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/>
              <a:t>Educational platform for embedded systems and robotics</a:t>
            </a:r>
            <a:endParaRPr lang="en-GB" sz="1800" dirty="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300" b="1" dirty="0">
                <a:solidFill>
                  <a:schemeClr val="tx2"/>
                </a:solidFill>
              </a:rPr>
              <a:t>     </a:t>
            </a:r>
            <a:r>
              <a:rPr lang="en-GB" sz="23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350" kern="1200" dirty="0"/>
              <a:t>       </a:t>
            </a:r>
            <a:r>
              <a:rPr lang="en-GB" sz="1800" kern="1200" dirty="0"/>
              <a:t> Extend with obstacle-avoidance sensors, wireless control, and ML-based path prediction     for unmarked environments.</a:t>
            </a:r>
            <a:endParaRPr lang="en-GB" sz="1000" dirty="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300" b="1" dirty="0">
                <a:solidFill>
                  <a:schemeClr val="tx2"/>
                </a:solidFill>
              </a:rPr>
              <a:t>     </a:t>
            </a:r>
            <a:r>
              <a:rPr lang="en-GB" sz="23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Outcomes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1800" kern="1200" dirty="0"/>
              <a:t>      Delivered a working, low-cost line-following robot demonstrating reliable autonomous         navigation using Arduino-based   sensor and motor control.</a:t>
            </a:r>
            <a:endParaRPr lang="en-GB" sz="1800" dirty="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3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Skills Acquired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/>
              <a:t>Embedded programming and circuit design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GB" sz="1800" kern="1200" dirty="0"/>
              <a:t>Teamwork and problem-solving under constraints</a:t>
            </a:r>
          </a:p>
        </p:txBody>
      </p:sp>
      <p:pic>
        <p:nvPicPr>
          <p:cNvPr id="500" name="Circuit Diagra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956" y="19892515"/>
            <a:ext cx="6181912" cy="2148899"/>
          </a:xfrm>
          <a:prstGeom prst="rect">
            <a:avLst/>
          </a:prstGeom>
          <a:ln w="9525">
            <a:solidFill>
              <a:schemeClr val="tx2">
                <a:alpha val="4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606247-B36A-23C5-8E2B-D89BECA780BD}"/>
              </a:ext>
            </a:extLst>
          </p:cNvPr>
          <p:cNvSpPr txBox="1"/>
          <p:nvPr/>
        </p:nvSpPr>
        <p:spPr bwMode="auto">
          <a:xfrm>
            <a:off x="9022080" y="5135880"/>
            <a:ext cx="65" cy="616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>
            <a:spAutoFit/>
          </a:bodyPr>
          <a:lstStyle/>
          <a:p>
            <a:pPr marL="455613" indent="-455613" algn="l" defTabSz="2952750" eaLnBrk="0" hangingPunct="0">
              <a:lnSpc>
                <a:spcPct val="105000"/>
              </a:lnSpc>
              <a:spcBef>
                <a:spcPts val="4400"/>
              </a:spcBef>
              <a:spcAft>
                <a:spcPts val="0"/>
              </a:spcAft>
              <a:buClr>
                <a:schemeClr val="tx2"/>
              </a:buClr>
            </a:pPr>
            <a:endParaRPr lang="en-IN" sz="4100" b="1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423776"/>
      </p:ext>
    </p:extLst>
  </p:cSld>
  <p:clrMapOvr>
    <a:masterClrMapping/>
  </p:clrMapOvr>
</p:sld>
</file>

<file path=ppt/theme/theme1.xml><?xml version="1.0" encoding="utf-8"?>
<a:theme xmlns:a="http://schemas.openxmlformats.org/drawingml/2006/main" name="KIOT #CE4F2F">
  <a:themeElements>
    <a:clrScheme name="01 KIOT Conference #178473">
      <a:dk1>
        <a:srgbClr val="000000"/>
      </a:dk1>
      <a:lt1>
        <a:srgbClr val="FFFFFF"/>
      </a:lt1>
      <a:dk2>
        <a:srgbClr val="158473"/>
      </a:dk2>
      <a:lt2>
        <a:srgbClr val="808080"/>
      </a:lt2>
      <a:accent1>
        <a:srgbClr val="7AFDE9"/>
      </a:accent1>
      <a:accent2>
        <a:srgbClr val="5BD1BF"/>
      </a:accent2>
      <a:accent3>
        <a:srgbClr val="FFFFFF"/>
      </a:accent3>
      <a:accent4>
        <a:srgbClr val="086154"/>
      </a:accent4>
      <a:accent5>
        <a:srgbClr val="5BD1BF"/>
      </a:accent5>
      <a:accent6>
        <a:srgbClr val="000000"/>
      </a:accent6>
      <a:hlink>
        <a:srgbClr val="158473"/>
      </a:hlink>
      <a:folHlink>
        <a:srgbClr val="0861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lIns="0" tIns="0" rIns="0" bIns="0"/>
      <a:lstStyle>
        <a:defPPr marL="455613" indent="-455613" algn="l" defTabSz="2952750" eaLnBrk="0" hangingPunct="0">
          <a:lnSpc>
            <a:spcPct val="105000"/>
          </a:lnSpc>
          <a:spcBef>
            <a:spcPts val="4400"/>
          </a:spcBef>
          <a:spcAft>
            <a:spcPts val="0"/>
          </a:spcAft>
          <a:buClr>
            <a:schemeClr val="tx2"/>
          </a:buClr>
          <a:defRPr sz="4100" b="1" kern="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27825 KIOT Conference 2022 portrait HT v2.pptx" id="{F18A0F39-BBEB-43DB-BFD6-81A744C52318}" vid="{8D687D27-B946-4FBA-8150-9F172FBFD3DC}"/>
    </a:ext>
  </a:extLst>
</a:theme>
</file>

<file path=ppt/theme/theme2.xml><?xml version="1.0" encoding="utf-8"?>
<a:theme xmlns:a="http://schemas.openxmlformats.org/drawingml/2006/main" name="1_KIOT conference poster portrait">
  <a:themeElements>
    <a:clrScheme name="06 KIOT Conference #2B7DAE">
      <a:dk1>
        <a:srgbClr val="000000"/>
      </a:dk1>
      <a:lt1>
        <a:srgbClr val="FFFFFF"/>
      </a:lt1>
      <a:dk2>
        <a:srgbClr val="2B7DAE"/>
      </a:dk2>
      <a:lt2>
        <a:srgbClr val="808080"/>
      </a:lt2>
      <a:accent1>
        <a:srgbClr val="7CCDFD"/>
      </a:accent1>
      <a:accent2>
        <a:srgbClr val="62B4E7"/>
      </a:accent2>
      <a:accent3>
        <a:srgbClr val="FFFFFF"/>
      </a:accent3>
      <a:accent4>
        <a:srgbClr val="114E72"/>
      </a:accent4>
      <a:accent5>
        <a:srgbClr val="7CCDFD"/>
      </a:accent5>
      <a:accent6>
        <a:srgbClr val="000000"/>
      </a:accent6>
      <a:hlink>
        <a:srgbClr val="2B7DAE"/>
      </a:hlink>
      <a:folHlink>
        <a:srgbClr val="114E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KIOT Conference 2022 portrait HT v2.pptx" id="{F18A0F39-BBEB-43DB-BFD6-81A744C52318}" vid="{1757E75D-6B58-43A6-AFC1-7824D5CC8EBB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KIOT_PBL_Poster_Template</Template>
  <TotalTime>50</TotalTime>
  <Words>854</Words>
  <Application>Microsoft Office PowerPoint</Application>
  <PresentationFormat>Custom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Rdg Vesta</vt:lpstr>
      <vt:lpstr>Calibri</vt:lpstr>
      <vt:lpstr>KIOT #CE4F2F</vt:lpstr>
      <vt:lpstr>1_KIOT conference poster portrait</vt:lpstr>
      <vt:lpstr>Autonomous Medical Supply – Delivery robot for hospital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Research and conference poster</dc:subject>
  <dc:creator>Shanmugam sivaraman</dc:creator>
  <cp:lastModifiedBy>Naveen kumar R</cp:lastModifiedBy>
  <cp:revision>5</cp:revision>
  <dcterms:created xsi:type="dcterms:W3CDTF">2026-07-26T14:23:05Z</dcterms:created>
  <dcterms:modified xsi:type="dcterms:W3CDTF">2026-08-13T05:32:48Z</dcterms:modified>
</cp:coreProperties>
</file>